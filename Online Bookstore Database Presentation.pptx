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5" r:id="rId7"/>
    <p:sldId id="266" r:id="rId8"/>
    <p:sldId id="267" r:id="rId9"/>
    <p:sldId id="268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D864-677A-EAA0-6530-C12589123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5B9D7E-60EC-407E-D0ED-AC08CFF1E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9A51E-AECE-E2AE-2C5A-DB20B2340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26EB-839F-46CF-8600-3AF64D7719BB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087B2-D2DB-1721-974E-D7CEB53D6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1E1B2-A67D-4CBC-8D72-0B06365D6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9E5-24CB-4DD4-8E13-66B6304E3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893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8604D-535A-591A-A0A8-C9A0398D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FFAB6-1EC0-7D38-AF88-3D98ADFCC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002D9-32DB-0E3E-E5C8-D1D825FDA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26EB-839F-46CF-8600-3AF64D7719BB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F03FE-0B26-DC96-76CF-D9F9793C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250BE-6EEE-C61A-2DCC-8B1C1753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9E5-24CB-4DD4-8E13-66B6304E3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893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03403-99E9-AA62-202C-3CDA2F0A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99A5C-6759-02FE-99BE-C84C8F858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7F981-FC33-7F80-B13B-71764614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26EB-839F-46CF-8600-3AF64D7719BB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AC3F4-DE60-D8EF-43D1-272C088BB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2C670-F91D-2811-216E-0C44CDE8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9E5-24CB-4DD4-8E13-66B6304E3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961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4DFDD-23DF-331A-CE4C-D105B09B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810A-FA0D-EC2B-570C-DBB159CB1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6ECD0-EBCE-35A0-5FA6-82033601C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92540-D6C6-EC4D-0F28-1039A0044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26EB-839F-46CF-8600-3AF64D7719BB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B4710-53DA-1A32-D6A5-09DA1989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36382-49CB-767C-B49C-9A0B5C32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9E5-24CB-4DD4-8E13-66B6304E3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032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8CE4-8E42-3BB6-2CE3-EC136E870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F8564-679E-317C-95E4-65F2A626B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038CC-1017-C91B-31A9-F1CEF8D3C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C159E0-36EA-06DA-A458-C5C29DE45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5251F6-C37D-2EAE-2B32-8095036EC0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E3C097-156C-2664-A159-B5E863449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26EB-839F-46CF-8600-3AF64D7719BB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7D839D-F01D-0A5F-25BE-10754B07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E1C633-E1D4-1B12-4A25-CF87CA1B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9E5-24CB-4DD4-8E13-66B6304E3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1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15E33-92B0-5925-3159-41088D088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BD517-ACD2-0FD4-E3C8-9789108D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26EB-839F-46CF-8600-3AF64D7719BB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24E90-D9F4-FD51-DBB9-18A3F5F75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E9DC1-7A67-9E6F-C827-2791B43C0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9E5-24CB-4DD4-8E13-66B6304E3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93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C6E1B-F150-AFBE-6071-1E86F9B4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26EB-839F-46CF-8600-3AF64D7719BB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E61429-B545-3D97-2BF4-0B1A2F3DE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59C10-6771-903C-8C75-66FC10860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9E5-24CB-4DD4-8E13-66B6304E3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145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94124-A7EB-50F8-DF9C-008816583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D0D7C-17B3-EF4B-2790-65E73BFA0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85921-39A0-5251-AF7D-642B84F81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6774E-77BA-A19D-C96A-4E94CA723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26EB-839F-46CF-8600-3AF64D7719BB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E1EBD-5823-730A-D03A-3E8BEC17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FC19F-041A-DE36-D425-A55B1307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9E5-24CB-4DD4-8E13-66B6304E3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510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83C7-1880-7DCD-8433-EA6F50B62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E8CE9F-C667-FAF8-D2DC-16EA1B2E7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2FEB0-2996-0383-8FB6-3C9349E4B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FDFE6-E94F-B562-4A79-9434D894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26EB-839F-46CF-8600-3AF64D7719BB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4B906-97BA-D28A-A128-EE5CEC82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DC767-5021-ADE2-B0F5-CAD95FC45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9E5-24CB-4DD4-8E13-66B6304E3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386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BD63F-C7E4-46C2-4EB0-3458999D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0D5D7-53F6-D688-D766-A58D7176B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B1CFC-850D-F050-DC51-FF7BB861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26EB-839F-46CF-8600-3AF64D7719BB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DE376-6758-5515-7783-270D7359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20EA7-816E-E1F9-018C-3553CD3C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9E5-24CB-4DD4-8E13-66B6304E3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960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6B5BEA-1541-B719-B764-240E781FB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FB7AF-813B-2562-4025-515831EA9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1E5A0-7921-2089-7007-EA88CF7DA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26EB-839F-46CF-8600-3AF64D7719BB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B388B-18FE-F57A-C776-54733478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86AA0-5254-A8AF-2461-AEB8DB5D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89E5-24CB-4DD4-8E13-66B6304E3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50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3925D-23DF-724F-E51A-8EF6E654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CC1BD-4994-0ECE-C4FF-03215DF58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F8DA6-B695-50AF-11A1-5B251FAD6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726EB-839F-46CF-8600-3AF64D7719BB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E1387-A122-9400-3D19-8C429B1D4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E2768-7CB1-D5C0-B872-AF7679DB7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E89E5-24CB-4DD4-8E13-66B6304E30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70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FCFC-0C1C-DE5B-29F6-42127E365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4073"/>
            <a:ext cx="9144000" cy="312274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Managing and Querying Database – Course End Project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Online Bookstore Database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6267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C7AD-9328-CA45-0AFD-0D5C5D95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E9BA2-1634-23EE-92AB-A414CE809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500" dirty="0"/>
              <a:t>Online bookstores in today’s world face lots of challenging tasks such as maintaining huge volumes of books and customers details, handling many concurrent transactions, frequent </a:t>
            </a:r>
            <a:r>
              <a:rPr lang="en-US" sz="3500" dirty="0" err="1"/>
              <a:t>updation</a:t>
            </a:r>
            <a:r>
              <a:rPr lang="en-US" sz="3500" dirty="0"/>
              <a:t> etc.</a:t>
            </a:r>
          </a:p>
          <a:p>
            <a:pPr algn="just"/>
            <a:r>
              <a:rPr lang="en-US" sz="3500" dirty="0"/>
              <a:t>To address these challenges, I’ve designed an online bookstore database which handles these challenging tasks efficiently by means of various aspects of MySQL such as joins, stored procedures, triggers, indexes etc.</a:t>
            </a: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2403486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BBD5-EC05-EA71-AF08-E205B559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 OF MY PROJECT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F3152-6026-D857-AE88-3F266EAC1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510"/>
            <a:ext cx="10515600" cy="5057365"/>
          </a:xfrm>
        </p:spPr>
        <p:txBody>
          <a:bodyPr/>
          <a:lstStyle/>
          <a:p>
            <a:pPr algn="just"/>
            <a:r>
              <a:rPr lang="en-US" dirty="0"/>
              <a:t>I’ve created multiple tables each for a particular purpose by following the rules of </a:t>
            </a:r>
            <a:r>
              <a:rPr lang="en-US" b="1" dirty="0"/>
              <a:t>Normalization.</a:t>
            </a:r>
          </a:p>
          <a:p>
            <a:pPr algn="just"/>
            <a:r>
              <a:rPr lang="en-US" dirty="0"/>
              <a:t>For filtering based on various conditions – </a:t>
            </a:r>
            <a:r>
              <a:rPr lang="en-US" b="1" dirty="0"/>
              <a:t>where clause</a:t>
            </a:r>
          </a:p>
          <a:p>
            <a:pPr algn="just"/>
            <a:r>
              <a:rPr lang="en-IN" dirty="0"/>
              <a:t>Summary preparation based of any attributes – </a:t>
            </a:r>
            <a:r>
              <a:rPr lang="en-IN" b="1" dirty="0"/>
              <a:t>Aggregation functions</a:t>
            </a:r>
          </a:p>
          <a:p>
            <a:pPr algn="just"/>
            <a:r>
              <a:rPr lang="en-IN" dirty="0"/>
              <a:t>Combining different tables – </a:t>
            </a:r>
            <a:r>
              <a:rPr lang="en-IN" b="1" dirty="0"/>
              <a:t>Joins</a:t>
            </a:r>
          </a:p>
          <a:p>
            <a:pPr algn="just"/>
            <a:r>
              <a:rPr lang="en-IN" dirty="0"/>
              <a:t>Optimizing retrievals – </a:t>
            </a:r>
            <a:r>
              <a:rPr lang="en-IN" b="1" dirty="0"/>
              <a:t>Indexes</a:t>
            </a:r>
          </a:p>
          <a:p>
            <a:pPr algn="just"/>
            <a:r>
              <a:rPr lang="en-IN" dirty="0"/>
              <a:t>Handling Transactions – </a:t>
            </a:r>
            <a:r>
              <a:rPr lang="en-IN" b="1" dirty="0"/>
              <a:t>Transaction Control Languages(TCL)</a:t>
            </a:r>
          </a:p>
          <a:p>
            <a:pPr algn="just"/>
            <a:r>
              <a:rPr lang="en-IN" dirty="0"/>
              <a:t>Automating Tasks – </a:t>
            </a:r>
            <a:r>
              <a:rPr lang="en-IN" b="1" dirty="0"/>
              <a:t>Triggers</a:t>
            </a:r>
          </a:p>
          <a:p>
            <a:pPr algn="just"/>
            <a:r>
              <a:rPr lang="en-IN" dirty="0"/>
              <a:t>Creating table with selected attributes for temporary purpose - </a:t>
            </a:r>
            <a:r>
              <a:rPr lang="en-IN" b="1" dirty="0"/>
              <a:t>Views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532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548A-0E74-666E-B0CD-CC3779E3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A91986-FA3D-AC1F-AEB1-33F880633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90261"/>
            <a:ext cx="10515600" cy="533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448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1EECC-828A-02DA-28FB-3D79EC565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4630"/>
          </a:xfrm>
        </p:spPr>
        <p:txBody>
          <a:bodyPr>
            <a:normAutofit fontScale="90000"/>
          </a:bodyPr>
          <a:lstStyle/>
          <a:p>
            <a:r>
              <a:rPr lang="en-US" dirty="0"/>
              <a:t>Sample Query And 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8996A-9D83-6A0E-DB8E-C10AC9B7A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3061"/>
            <a:ext cx="10515600" cy="524390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7804B1-331C-D06C-32BE-16807DDC1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340" y="982903"/>
            <a:ext cx="10526594" cy="25721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3198AB-162C-B955-C442-90278EB8D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03" y="3956353"/>
            <a:ext cx="10698068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07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499C-6093-686B-7241-0D41BA969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ABOUT VARIOUS ASPECTS OF MYSQL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51FB6-E323-525C-9C0D-00066D9A9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1) Normalization</a:t>
            </a:r>
          </a:p>
          <a:p>
            <a:pPr marL="0" indent="0" algn="just">
              <a:buNone/>
            </a:pPr>
            <a:r>
              <a:rPr lang="en-US" sz="2400" dirty="0"/>
              <a:t>* </a:t>
            </a:r>
            <a:r>
              <a:rPr lang="en-US" sz="2400" b="1" dirty="0"/>
              <a:t>What it is:</a:t>
            </a:r>
            <a:r>
              <a:rPr lang="en-US" sz="2400" dirty="0"/>
              <a:t> Organizing data into separate tables to reduce redundancy and improve data consistency.</a:t>
            </a:r>
          </a:p>
          <a:p>
            <a:pPr marL="0" indent="0" algn="just">
              <a:buNone/>
            </a:pPr>
            <a:r>
              <a:rPr lang="en-US" sz="2400" dirty="0"/>
              <a:t>* </a:t>
            </a:r>
            <a:r>
              <a:rPr lang="en-US" sz="2400" b="1" dirty="0"/>
              <a:t>In my project:</a:t>
            </a:r>
            <a:r>
              <a:rPr lang="en-US" sz="2400" dirty="0"/>
              <a:t> Author, Book, Category, Customer, and Orders are stored in separate tables to avoid duplicate data.</a:t>
            </a:r>
          </a:p>
          <a:p>
            <a:pPr marL="0" indent="0" algn="just">
              <a:buNone/>
            </a:pPr>
            <a:endParaRPr lang="en-US" sz="2400" b="1" dirty="0"/>
          </a:p>
          <a:p>
            <a:pPr marL="0" indent="0" algn="just">
              <a:buNone/>
            </a:pPr>
            <a:r>
              <a:rPr lang="en-US" sz="2400" b="1" dirty="0"/>
              <a:t>2) Primary Key:</a:t>
            </a:r>
          </a:p>
          <a:p>
            <a:pPr marL="0" indent="0" algn="just">
              <a:buNone/>
            </a:pPr>
            <a:r>
              <a:rPr lang="en-US" sz="2400" dirty="0"/>
              <a:t>* </a:t>
            </a:r>
            <a:r>
              <a:rPr lang="en-US" sz="2400" b="1" dirty="0"/>
              <a:t>What it is:</a:t>
            </a:r>
            <a:r>
              <a:rPr lang="en-US" sz="2400" dirty="0"/>
              <a:t> Uniquely identify each record in a table.</a:t>
            </a:r>
          </a:p>
          <a:p>
            <a:pPr marL="0" indent="0" algn="just">
              <a:buNone/>
            </a:pPr>
            <a:r>
              <a:rPr lang="en-US" sz="2400" dirty="0"/>
              <a:t>* </a:t>
            </a:r>
            <a:r>
              <a:rPr lang="en-US" sz="2400" b="1" dirty="0"/>
              <a:t>In my project:</a:t>
            </a:r>
            <a:r>
              <a:rPr lang="en-US" sz="2400" dirty="0"/>
              <a:t> In my project </a:t>
            </a:r>
            <a:r>
              <a:rPr lang="en-US" sz="2400" dirty="0" err="1"/>
              <a:t>author_id</a:t>
            </a:r>
            <a:r>
              <a:rPr lang="en-US" sz="2400" dirty="0"/>
              <a:t> is primary key for author table, </a:t>
            </a:r>
            <a:r>
              <a:rPr lang="en-US" sz="2400" dirty="0" err="1"/>
              <a:t>book_id</a:t>
            </a:r>
            <a:r>
              <a:rPr lang="en-US" sz="2400" dirty="0"/>
              <a:t> is primary key for book table etc.</a:t>
            </a:r>
          </a:p>
          <a:p>
            <a:pPr marL="0" indent="0" algn="just">
              <a:buNone/>
            </a:pPr>
            <a:endParaRPr lang="en-US" sz="2500" dirty="0"/>
          </a:p>
          <a:p>
            <a:pPr marL="0" indent="0" algn="just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734246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8ECA-CAF5-B91D-F699-8FABC3DE0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4297"/>
            <a:ext cx="10515600" cy="58426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3) Foreign Key</a:t>
            </a:r>
          </a:p>
          <a:p>
            <a:pPr marL="0" indent="0" algn="just">
              <a:buNone/>
            </a:pPr>
            <a:r>
              <a:rPr lang="en-US" sz="2400" b="1" dirty="0"/>
              <a:t>* What it is:</a:t>
            </a:r>
            <a:r>
              <a:rPr lang="en-US" sz="2400" dirty="0"/>
              <a:t> A column that creates a relationship between two tables by referencing a primary key.</a:t>
            </a:r>
          </a:p>
          <a:p>
            <a:pPr algn="just"/>
            <a:r>
              <a:rPr lang="en-US" sz="2400" b="1" dirty="0"/>
              <a:t>In my project:</a:t>
            </a:r>
            <a:r>
              <a:rPr lang="en-US" sz="2400" dirty="0"/>
              <a:t> </a:t>
            </a:r>
            <a:r>
              <a:rPr lang="en-US" sz="2400" dirty="0" err="1"/>
              <a:t>book.author_id</a:t>
            </a:r>
            <a:r>
              <a:rPr lang="en-US" sz="2400" dirty="0"/>
              <a:t> links the Book table to the Author table.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b="1" dirty="0"/>
              <a:t>4) Joins</a:t>
            </a:r>
          </a:p>
          <a:p>
            <a:pPr marL="0" indent="0" algn="just">
              <a:buNone/>
            </a:pPr>
            <a:r>
              <a:rPr lang="en-US" sz="2400" b="1" dirty="0"/>
              <a:t>* What it is:</a:t>
            </a:r>
            <a:r>
              <a:rPr lang="en-US" sz="2400" dirty="0"/>
              <a:t> Used to combine data from multiple tables based on related columns.</a:t>
            </a:r>
          </a:p>
          <a:p>
            <a:pPr marL="0" indent="0" algn="just">
              <a:buNone/>
            </a:pPr>
            <a:r>
              <a:rPr lang="en-US" sz="2400" b="1" dirty="0"/>
              <a:t>* In my project:</a:t>
            </a:r>
            <a:r>
              <a:rPr lang="en-US" sz="2400" dirty="0"/>
              <a:t> JOIN is used to fetch book details, customer info, and order data together in reports.</a:t>
            </a:r>
          </a:p>
          <a:p>
            <a:pPr marL="0" indent="0" algn="just">
              <a:buNone/>
            </a:pPr>
            <a:endParaRPr lang="en-IN" sz="2400" dirty="0"/>
          </a:p>
          <a:p>
            <a:pPr marL="0" indent="0" algn="just">
              <a:buNone/>
            </a:pPr>
            <a:r>
              <a:rPr lang="en-US" b="1" dirty="0"/>
              <a:t>5) Subqueries</a:t>
            </a:r>
          </a:p>
          <a:p>
            <a:pPr marL="0" indent="0" algn="just">
              <a:buNone/>
            </a:pPr>
            <a:r>
              <a:rPr lang="en-US" sz="2400" b="1" dirty="0"/>
              <a:t>* What it is:</a:t>
            </a:r>
            <a:r>
              <a:rPr lang="en-US" sz="2400" dirty="0"/>
              <a:t> A query inside another query to filter or calculate results.</a:t>
            </a:r>
          </a:p>
          <a:p>
            <a:pPr marL="0" indent="0" algn="just">
              <a:buNone/>
            </a:pPr>
            <a:r>
              <a:rPr lang="en-US" sz="2400" b="1" dirty="0"/>
              <a:t>* In my project:</a:t>
            </a:r>
            <a:r>
              <a:rPr lang="en-US" sz="2400" dirty="0"/>
              <a:t> Subqueries are used to find customers who spent more than ₹10,000 or books never purchased.</a:t>
            </a:r>
          </a:p>
          <a:p>
            <a:pPr marL="0" indent="0" algn="just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16800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4B699-6F9B-21B8-6FA9-81FDB69AB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63516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6) Stored Procedures</a:t>
            </a:r>
          </a:p>
          <a:p>
            <a:pPr marL="0" indent="0" algn="just">
              <a:buNone/>
            </a:pPr>
            <a:r>
              <a:rPr lang="en-US" sz="2400" b="1" dirty="0"/>
              <a:t>* What it is:</a:t>
            </a:r>
            <a:r>
              <a:rPr lang="en-US" sz="2400" dirty="0"/>
              <a:t> A reusable set of SQL statements that performs a specific task.</a:t>
            </a:r>
          </a:p>
          <a:p>
            <a:pPr marL="0" indent="0" algn="just">
              <a:buNone/>
            </a:pPr>
            <a:r>
              <a:rPr lang="en-US" sz="2400" b="1" dirty="0"/>
              <a:t>* In my project:</a:t>
            </a:r>
            <a:r>
              <a:rPr lang="en-US" sz="2400" dirty="0"/>
              <a:t> Procedures are used to prevent orders when previous payments are pending for more than 30 days.</a:t>
            </a:r>
          </a:p>
          <a:p>
            <a:pPr marL="0" indent="0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US" b="1" dirty="0"/>
              <a:t>7) Locks</a:t>
            </a:r>
          </a:p>
          <a:p>
            <a:pPr marL="0" indent="0" algn="just">
              <a:buNone/>
            </a:pPr>
            <a:r>
              <a:rPr lang="en-US" sz="2400" b="1" dirty="0"/>
              <a:t>* What it is:</a:t>
            </a:r>
            <a:r>
              <a:rPr lang="en-US" sz="2400" dirty="0"/>
              <a:t> Mechanism to control concurrent access to data and avoid conflicts.</a:t>
            </a:r>
          </a:p>
          <a:p>
            <a:pPr marL="0" indent="0" algn="just">
              <a:buNone/>
            </a:pPr>
            <a:r>
              <a:rPr lang="en-US" sz="2400" b="1" dirty="0"/>
              <a:t>* In my project:</a:t>
            </a:r>
            <a:r>
              <a:rPr lang="en-US" sz="2400" dirty="0"/>
              <a:t> SELECT … FOR UPDATE is used to prevent multiple customers from buying the same book simultaneously.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8) Triggers</a:t>
            </a:r>
          </a:p>
          <a:p>
            <a:pPr marL="0" indent="0">
              <a:buNone/>
            </a:pPr>
            <a:r>
              <a:rPr lang="en-US" sz="2400" b="1" dirty="0"/>
              <a:t>* What it is:</a:t>
            </a:r>
            <a:r>
              <a:rPr lang="en-US" sz="2400" dirty="0"/>
              <a:t> Automatic actions executed when a specific database event occurs.</a:t>
            </a:r>
          </a:p>
          <a:p>
            <a:pPr marL="0" indent="0">
              <a:buNone/>
            </a:pPr>
            <a:r>
              <a:rPr lang="en-US" sz="2400" b="1" dirty="0"/>
              <a:t>* In my project:</a:t>
            </a:r>
            <a:r>
              <a:rPr lang="en-US" sz="2400" dirty="0"/>
              <a:t> Triggers automatically update book stock and log price changes when data is modified.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190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E1C73-4F39-F8B8-C931-02CB4E50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TAKEAWAYS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0440C-5727-2455-F1EA-706A9280D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Designed an online bookstore database by identifying necessary entities, their attributes and relationship between them.</a:t>
            </a:r>
            <a:endParaRPr lang="en-IN" dirty="0"/>
          </a:p>
          <a:p>
            <a:pPr lvl="0"/>
            <a:r>
              <a:rPr lang="en-US" dirty="0"/>
              <a:t>Created the required tables by using Data Definition Language(DDL),manipulated data using Data Manipulation Language(DML) and retrieved using Data Query Language (DQL)</a:t>
            </a:r>
            <a:endParaRPr lang="en-IN" dirty="0"/>
          </a:p>
          <a:p>
            <a:pPr lvl="0"/>
            <a:r>
              <a:rPr lang="en-US" dirty="0"/>
              <a:t>Written efficient queries to solve the asked question by using various aspects of MySQL such as </a:t>
            </a:r>
            <a:r>
              <a:rPr lang="en-US" dirty="0" err="1"/>
              <a:t>Joins,Subqueries,Triggers,Procedures,Exception</a:t>
            </a:r>
            <a:r>
              <a:rPr lang="en-US" dirty="0"/>
              <a:t> handling etc.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699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F0B2E-CB7D-D835-7101-59C855287A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1778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580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Managing and Querying Database – Course End Project  Online Bookstore Database</vt:lpstr>
      <vt:lpstr>INTRODUCTION</vt:lpstr>
      <vt:lpstr>FEATURES OF MY PROJECT</vt:lpstr>
      <vt:lpstr>ER DIAGRAM</vt:lpstr>
      <vt:lpstr>Sample Query And Output</vt:lpstr>
      <vt:lpstr>ABOUT VARIOUS ASPECTS OF MYSQL</vt:lpstr>
      <vt:lpstr>PowerPoint Presentation</vt:lpstr>
      <vt:lpstr>PowerPoint Presentation</vt:lpstr>
      <vt:lpstr>TAKEAWAYS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Chitra</dc:creator>
  <cp:lastModifiedBy>Yogesh Chitra</cp:lastModifiedBy>
  <cp:revision>7</cp:revision>
  <dcterms:created xsi:type="dcterms:W3CDTF">2026-01-07T04:30:06Z</dcterms:created>
  <dcterms:modified xsi:type="dcterms:W3CDTF">2026-01-12T15:08:56Z</dcterms:modified>
</cp:coreProperties>
</file>